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SemiBold" panose="00000700000000000000" pitchFamily="2" charset="77"/>
      <p:regular r:id="rId24"/>
      <p:bold r:id="rId25"/>
      <p:italic r:id="rId26"/>
      <p:boldItalic r:id="rId27"/>
    </p:embeddedFont>
    <p:embeddedFont>
      <p:font typeface="Urbanist" panose="020B0A04040200000203" pitchFamily="34" charset="77"/>
      <p:regular r:id="rId28"/>
      <p:bold r:id="rId29"/>
      <p:italic r:id="rId30"/>
      <p:boldItalic r:id="rId31"/>
    </p:embeddedFont>
    <p:embeddedFont>
      <p:font typeface="Urbanist Medium" panose="020B0A04040200000203" pitchFamily="34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7D7406-671E-46B1-BABF-2BD27D3407CC}">
  <a:tblStyle styleId="{FF7D7406-671E-46B1-BABF-2BD27D3407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7"/>
  </p:normalViewPr>
  <p:slideViewPr>
    <p:cSldViewPr snapToGrid="0">
      <p:cViewPr varScale="1">
        <p:scale>
          <a:sx n="112" d="100"/>
          <a:sy n="112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19125" y="1838444"/>
            <a:ext cx="109539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A2BE2"/>
                </a:solidFill>
                <a:latin typeface="Urbanist"/>
                <a:ea typeface="Urbanist"/>
                <a:cs typeface="Urbanist"/>
                <a:sym typeface="Urbanist"/>
              </a:rPr>
              <a:t>PROJET DE FIN DE MATIÈRE (IIR)</a:t>
            </a:r>
            <a:endParaRPr sz="3200"/>
          </a:p>
        </p:txBody>
      </p:sp>
      <p:sp>
        <p:nvSpPr>
          <p:cNvPr id="85" name="Google Shape;85;p13"/>
          <p:cNvSpPr txBox="1"/>
          <p:nvPr/>
        </p:nvSpPr>
        <p:spPr>
          <a:xfrm>
            <a:off x="619125" y="2342056"/>
            <a:ext cx="11501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CONCEPTION ET DÉVELOPPEMENT D'UNE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PLATEFORME E-LEARNING WEB EXTENSIBLE</a:t>
            </a:r>
            <a:endParaRPr sz="2400"/>
          </a:p>
        </p:txBody>
      </p:sp>
      <p:sp>
        <p:nvSpPr>
          <p:cNvPr id="86" name="Google Shape;86;p13"/>
          <p:cNvSpPr/>
          <p:nvPr/>
        </p:nvSpPr>
        <p:spPr>
          <a:xfrm>
            <a:off x="619125" y="3921838"/>
            <a:ext cx="762000" cy="285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7375" y="5413428"/>
            <a:ext cx="53103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5" b="1" i="0" u="none" strike="noStrike" cap="none">
                <a:solidFill>
                  <a:srgbClr val="8A2BE2"/>
                </a:solidFill>
                <a:latin typeface="Urbanist"/>
                <a:ea typeface="Urbanist"/>
                <a:cs typeface="Urbanist"/>
                <a:sym typeface="Urbanist"/>
              </a:rPr>
              <a:t>Réalisé par :</a:t>
            </a:r>
            <a:endParaRPr sz="2500"/>
          </a:p>
        </p:txBody>
      </p:sp>
      <p:sp>
        <p:nvSpPr>
          <p:cNvPr id="88" name="Google Shape;88;p13"/>
          <p:cNvSpPr txBox="1"/>
          <p:nvPr/>
        </p:nvSpPr>
        <p:spPr>
          <a:xfrm>
            <a:off x="619125" y="5819041"/>
            <a:ext cx="53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CHARAI Rim | EL IDRYSY Nizar | ZAHAAR Israe</a:t>
            </a:r>
            <a:endParaRPr sz="1900"/>
          </a:p>
        </p:txBody>
      </p:sp>
      <p:sp>
        <p:nvSpPr>
          <p:cNvPr id="89" name="Google Shape;89;p13"/>
          <p:cNvSpPr txBox="1"/>
          <p:nvPr/>
        </p:nvSpPr>
        <p:spPr>
          <a:xfrm>
            <a:off x="619125" y="6166766"/>
            <a:ext cx="5310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3ème Année Informatique et Réseaux</a:t>
            </a:r>
            <a:endParaRPr sz="1700"/>
          </a:p>
        </p:txBody>
      </p:sp>
      <p:sp>
        <p:nvSpPr>
          <p:cNvPr id="90" name="Google Shape;90;p13"/>
          <p:cNvSpPr txBox="1"/>
          <p:nvPr/>
        </p:nvSpPr>
        <p:spPr>
          <a:xfrm>
            <a:off x="6672012" y="5451978"/>
            <a:ext cx="5310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 i="0" u="none" strike="noStrike" cap="none">
                <a:solidFill>
                  <a:srgbClr val="8A2BE2"/>
                </a:solidFill>
                <a:latin typeface="Urbanist"/>
                <a:ea typeface="Urbanist"/>
                <a:cs typeface="Urbanist"/>
                <a:sym typeface="Urbanist"/>
              </a:rPr>
              <a:t>Encadré par :</a:t>
            </a:r>
            <a:endParaRPr sz="2000"/>
          </a:p>
        </p:txBody>
      </p:sp>
      <p:sp>
        <p:nvSpPr>
          <p:cNvPr id="91" name="Google Shape;91;p13"/>
          <p:cNvSpPr txBox="1"/>
          <p:nvPr/>
        </p:nvSpPr>
        <p:spPr>
          <a:xfrm>
            <a:off x="6672062" y="5832804"/>
            <a:ext cx="5310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Mme. Soundouss ABROUN</a:t>
            </a:r>
            <a:endParaRPr sz="1700"/>
          </a:p>
        </p:txBody>
      </p:sp>
      <p:sp>
        <p:nvSpPr>
          <p:cNvPr id="92" name="Google Shape;92;p13"/>
          <p:cNvSpPr txBox="1"/>
          <p:nvPr/>
        </p:nvSpPr>
        <p:spPr>
          <a:xfrm>
            <a:off x="6672012" y="6170704"/>
            <a:ext cx="53103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Année Universitaire 2025–2026</a:t>
            </a:r>
            <a:endParaRPr sz="1600"/>
          </a:p>
        </p:txBody>
      </p:sp>
      <p:pic>
        <p:nvPicPr>
          <p:cNvPr id="93" name="Google Shape;93;p13" title="Gre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1607" y="167200"/>
            <a:ext cx="3720595" cy="8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0" y="1472475"/>
            <a:ext cx="11211399" cy="8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0" y="2480719"/>
            <a:ext cx="11211399" cy="8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0" y="3488963"/>
            <a:ext cx="11211399" cy="8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0" y="4497207"/>
            <a:ext cx="11211399" cy="8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300" y="5505450"/>
            <a:ext cx="11211399" cy="8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 DE PRÉSENTATION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49855" y="1632803"/>
            <a:ext cx="62763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 sz="3200"/>
          </a:p>
        </p:txBody>
      </p:sp>
      <p:sp>
        <p:nvSpPr>
          <p:cNvPr id="107" name="Google Shape;107;p14"/>
          <p:cNvSpPr txBox="1"/>
          <p:nvPr/>
        </p:nvSpPr>
        <p:spPr>
          <a:xfrm>
            <a:off x="1437041" y="1512487"/>
            <a:ext cx="44722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Contexte et Problématique</a:t>
            </a:r>
            <a:endParaRPr sz="2800"/>
          </a:p>
        </p:txBody>
      </p:sp>
      <p:sp>
        <p:nvSpPr>
          <p:cNvPr id="108" name="Google Shape;108;p14"/>
          <p:cNvSpPr txBox="1"/>
          <p:nvPr/>
        </p:nvSpPr>
        <p:spPr>
          <a:xfrm>
            <a:off x="607013" y="2641042"/>
            <a:ext cx="59334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 sz="3200"/>
          </a:p>
        </p:txBody>
      </p:sp>
      <p:sp>
        <p:nvSpPr>
          <p:cNvPr id="109" name="Google Shape;109;p14"/>
          <p:cNvSpPr txBox="1"/>
          <p:nvPr/>
        </p:nvSpPr>
        <p:spPr>
          <a:xfrm>
            <a:off x="1437041" y="2504420"/>
            <a:ext cx="47465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Objectifs du Projet</a:t>
            </a:r>
            <a:endParaRPr sz="2800"/>
          </a:p>
        </p:txBody>
      </p:sp>
      <p:sp>
        <p:nvSpPr>
          <p:cNvPr id="110" name="Google Shape;110;p14"/>
          <p:cNvSpPr txBox="1"/>
          <p:nvPr/>
        </p:nvSpPr>
        <p:spPr>
          <a:xfrm>
            <a:off x="622616" y="3659113"/>
            <a:ext cx="68210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 sz="2800"/>
          </a:p>
        </p:txBody>
      </p:sp>
      <p:sp>
        <p:nvSpPr>
          <p:cNvPr id="111" name="Google Shape;111;p14"/>
          <p:cNvSpPr txBox="1"/>
          <p:nvPr/>
        </p:nvSpPr>
        <p:spPr>
          <a:xfrm>
            <a:off x="1437041" y="3505225"/>
            <a:ext cx="726118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Analyse &amp; Cahier des charges fonctionnel</a:t>
            </a:r>
            <a:endParaRPr sz="2800"/>
          </a:p>
        </p:txBody>
      </p:sp>
      <p:sp>
        <p:nvSpPr>
          <p:cNvPr id="112" name="Google Shape;112;p14"/>
          <p:cNvSpPr txBox="1"/>
          <p:nvPr/>
        </p:nvSpPr>
        <p:spPr>
          <a:xfrm>
            <a:off x="607013" y="4652813"/>
            <a:ext cx="52476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 sz="3200"/>
          </a:p>
        </p:txBody>
      </p:sp>
      <p:sp>
        <p:nvSpPr>
          <p:cNvPr id="113" name="Google Shape;113;p14"/>
          <p:cNvSpPr txBox="1"/>
          <p:nvPr/>
        </p:nvSpPr>
        <p:spPr>
          <a:xfrm>
            <a:off x="1437041" y="4498925"/>
            <a:ext cx="70668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Solution Proposée &amp; Architecture Technique</a:t>
            </a:r>
            <a:endParaRPr sz="2800"/>
          </a:p>
        </p:txBody>
      </p:sp>
      <p:sp>
        <p:nvSpPr>
          <p:cNvPr id="114" name="Google Shape;114;p14"/>
          <p:cNvSpPr txBox="1"/>
          <p:nvPr/>
        </p:nvSpPr>
        <p:spPr>
          <a:xfrm>
            <a:off x="619125" y="5665778"/>
            <a:ext cx="70934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endParaRPr sz="3200"/>
          </a:p>
        </p:txBody>
      </p:sp>
      <p:sp>
        <p:nvSpPr>
          <p:cNvPr id="115" name="Google Shape;115;p14"/>
          <p:cNvSpPr txBox="1"/>
          <p:nvPr/>
        </p:nvSpPr>
        <p:spPr>
          <a:xfrm>
            <a:off x="1437041" y="5505450"/>
            <a:ext cx="55466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1F5F9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Réalisation &amp; Démonstration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755194" y="2361000"/>
            <a:ext cx="24171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8A2BE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975560" y="3169200"/>
            <a:ext cx="62409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Contexte et Problématique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582750" y="3903400"/>
            <a:ext cx="762000" cy="3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544052"/>
            <a:ext cx="5310199" cy="464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75" y="1544048"/>
            <a:ext cx="5310187" cy="46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01 - CONTEXTE TECHNIQUE &amp; ÉVOLUTION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02200" y="1896886"/>
            <a:ext cx="5115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Architecture Héritée (CLI)</a:t>
            </a:r>
            <a:endParaRPr sz="1800"/>
          </a:p>
        </p:txBody>
      </p:sp>
      <p:sp>
        <p:nvSpPr>
          <p:cNvPr id="134" name="Google Shape;134;p16"/>
          <p:cNvSpPr txBox="1"/>
          <p:nvPr/>
        </p:nvSpPr>
        <p:spPr>
          <a:xfrm>
            <a:off x="6445750" y="1904521"/>
            <a:ext cx="5115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Nouveau Paradigme Web</a:t>
            </a:r>
            <a:endParaRPr sz="1800"/>
          </a:p>
        </p:txBody>
      </p:sp>
      <p:sp>
        <p:nvSpPr>
          <p:cNvPr id="135" name="Google Shape;135;p16"/>
          <p:cNvSpPr txBox="1"/>
          <p:nvPr/>
        </p:nvSpPr>
        <p:spPr>
          <a:xfrm>
            <a:off x="1009651" y="2768605"/>
            <a:ext cx="47007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Volatilité :</a:t>
            </a:r>
            <a:r>
              <a:rPr lang="en-US" sz="16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Stockage éphémère en structures de données Python (listes/dict) perdu à la fermeture.</a:t>
            </a:r>
            <a:endParaRPr sz="1900"/>
          </a:p>
        </p:txBody>
      </p:sp>
      <p:sp>
        <p:nvSpPr>
          <p:cNvPr id="136" name="Google Shape;136;p16"/>
          <p:cNvSpPr txBox="1"/>
          <p:nvPr/>
        </p:nvSpPr>
        <p:spPr>
          <a:xfrm>
            <a:off x="1009651" y="3759909"/>
            <a:ext cx="4700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Limitation :</a:t>
            </a:r>
            <a:r>
              <a:rPr lang="en-US" sz="15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Thread utilisateur unique basé sur des entrées/sorties séquentielles en terminal.</a:t>
            </a:r>
            <a:endParaRPr sz="1800"/>
          </a:p>
        </p:txBody>
      </p:sp>
      <p:sp>
        <p:nvSpPr>
          <p:cNvPr id="137" name="Google Shape;137;p16"/>
          <p:cNvSpPr txBox="1"/>
          <p:nvPr/>
        </p:nvSpPr>
        <p:spPr>
          <a:xfrm>
            <a:off x="1009651" y="4751214"/>
            <a:ext cx="4700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Ergonomie :</a:t>
            </a:r>
            <a:r>
              <a:rPr lang="en-US" sz="15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Courbe d'apprentissage ardue, inadaptée aux utilisateurs finaux académiques.</a:t>
            </a:r>
            <a:endParaRPr sz="1800"/>
          </a:p>
        </p:txBody>
      </p:sp>
      <p:sp>
        <p:nvSpPr>
          <p:cNvPr id="138" name="Google Shape;138;p16"/>
          <p:cNvSpPr txBox="1"/>
          <p:nvPr/>
        </p:nvSpPr>
        <p:spPr>
          <a:xfrm>
            <a:off x="6653200" y="2911008"/>
            <a:ext cx="47007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Nom de Code :</a:t>
            </a:r>
            <a:r>
              <a:rPr lang="en-US" sz="15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NEXUS LEARN.</a:t>
            </a:r>
            <a:endParaRPr sz="1800"/>
          </a:p>
        </p:txBody>
      </p:sp>
      <p:sp>
        <p:nvSpPr>
          <p:cNvPr id="139" name="Google Shape;139;p16"/>
          <p:cNvSpPr txBox="1"/>
          <p:nvPr/>
        </p:nvSpPr>
        <p:spPr>
          <a:xfrm>
            <a:off x="6653200" y="3519731"/>
            <a:ext cx="4700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Persistence</a:t>
            </a:r>
            <a:r>
              <a:rPr lang="en-US" sz="15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:</a:t>
            </a:r>
            <a:r>
              <a:rPr lang="en-US" sz="15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Transition complète vers une base relationnelle via couche d'abstraction ORM.</a:t>
            </a:r>
            <a:endParaRPr sz="1800"/>
          </a:p>
        </p:txBody>
      </p:sp>
      <p:sp>
        <p:nvSpPr>
          <p:cNvPr id="140" name="Google Shape;140;p16"/>
          <p:cNvSpPr txBox="1"/>
          <p:nvPr/>
        </p:nvSpPr>
        <p:spPr>
          <a:xfrm>
            <a:off x="6653200" y="4609026"/>
            <a:ext cx="4700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Modèle :</a:t>
            </a:r>
            <a:r>
              <a:rPr lang="en-US" sz="15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Accessibilité universelle par navigateur web, supportant la concurrence multi-sessions.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510625"/>
            <a:ext cx="10953750" cy="42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01 - PROBLÉMATIQUE ACADÉMIQUE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52450" y="1949556"/>
            <a:ext cx="10487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b="0" i="0" u="none" strike="noStrike" cap="none">
                <a:solidFill>
                  <a:srgbClr val="F43F5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Limites des environnements d'apprentissage non intégrés :</a:t>
            </a:r>
            <a:endParaRPr sz="2100"/>
          </a:p>
        </p:txBody>
      </p:sp>
      <p:sp>
        <p:nvSpPr>
          <p:cNvPr id="150" name="Google Shape;150;p17"/>
          <p:cNvSpPr txBox="1"/>
          <p:nvPr/>
        </p:nvSpPr>
        <p:spPr>
          <a:xfrm>
            <a:off x="1200150" y="2510869"/>
            <a:ext cx="101250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Rupture d'intégrité des données :</a:t>
            </a:r>
            <a:r>
              <a:rPr lang="en-US" sz="16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Difficulté d'assurer la cohérence entre les inscriptions des étudiants et le suivi dynamique de progression.</a:t>
            </a:r>
            <a:endParaRPr sz="1900"/>
          </a:p>
        </p:txBody>
      </p:sp>
      <p:sp>
        <p:nvSpPr>
          <p:cNvPr id="151" name="Google Shape;151;p17"/>
          <p:cNvSpPr txBox="1"/>
          <p:nvPr/>
        </p:nvSpPr>
        <p:spPr>
          <a:xfrm>
            <a:off x="1200150" y="3515881"/>
            <a:ext cx="101250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Permissions permissives :</a:t>
            </a:r>
            <a:r>
              <a:rPr lang="en-US" sz="16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Manque de barrières étanches de contrôle d'accès entre les créateurs de contenus (Enseignants) et les consommateurs (Étudiants).</a:t>
            </a:r>
            <a:endParaRPr sz="1900"/>
          </a:p>
        </p:txBody>
      </p:sp>
      <p:sp>
        <p:nvSpPr>
          <p:cNvPr id="152" name="Google Shape;152;p17"/>
          <p:cNvSpPr txBox="1"/>
          <p:nvPr/>
        </p:nvSpPr>
        <p:spPr>
          <a:xfrm>
            <a:off x="1200138" y="4520881"/>
            <a:ext cx="101250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Exploitation de médias lourds :</a:t>
            </a:r>
            <a:r>
              <a:rPr lang="en-US" sz="162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Incapacité des systèmes légers à orchestrer nativement les téléversements de fichiers PDF, images et supports textuels structurés.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344340" y="2620800"/>
            <a:ext cx="1503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8A2BE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3990736" y="3371850"/>
            <a:ext cx="4210526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0" y="4210050"/>
            <a:ext cx="762000" cy="3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6800" y="1744576"/>
            <a:ext cx="9858374" cy="37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02 - OBJECTIF GÉNÉRAL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1246854" y="2349065"/>
            <a:ext cx="95313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Migration Web Full-Stack Robuste</a:t>
            </a:r>
            <a:endParaRPr sz="1800"/>
          </a:p>
        </p:txBody>
      </p:sp>
      <p:sp>
        <p:nvSpPr>
          <p:cNvPr id="170" name="Google Shape;170;p19"/>
          <p:cNvSpPr txBox="1"/>
          <p:nvPr/>
        </p:nvSpPr>
        <p:spPr>
          <a:xfrm>
            <a:off x="2285988" y="3080665"/>
            <a:ext cx="7620000" cy="1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L'objectif premier est de concevoir une application web e-learning modulaire sécurisée sous le framework </a:t>
            </a:r>
            <a:r>
              <a:rPr lang="en-US" sz="19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Django</a:t>
            </a:r>
            <a:r>
              <a:rPr lang="en-US" sz="19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capable d'interconnecter de manière transparente les rôles d'Administration, d'Enseignement et d'Apprentissage.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114550"/>
            <a:ext cx="538162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 b="-23335"/>
          <a:stretch/>
        </p:blipFill>
        <p:spPr>
          <a:xfrm>
            <a:off x="6191250" y="2114550"/>
            <a:ext cx="538162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781425"/>
            <a:ext cx="5381625" cy="13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781425"/>
            <a:ext cx="5381625" cy="13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02 - OBJECTIFS SPÉCIFIQUES SYSTÈME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3425" y="228598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819150" y="2587788"/>
            <a:ext cx="5230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Sécurisation RBAC</a:t>
            </a:r>
            <a:endParaRPr sz="1800"/>
          </a:p>
        </p:txBody>
      </p:sp>
      <p:sp>
        <p:nvSpPr>
          <p:cNvPr id="184" name="Google Shape;184;p20"/>
          <p:cNvSpPr txBox="1"/>
          <p:nvPr/>
        </p:nvSpPr>
        <p:spPr>
          <a:xfrm>
            <a:off x="819150" y="2945363"/>
            <a:ext cx="49815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Garantir l'isolement complet des vues applicatives par décorateurs de requêtes.</a:t>
            </a:r>
            <a:endParaRPr sz="1700"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28598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391275" y="2597450"/>
            <a:ext cx="5230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Moteur d'Évaluation Auto-géré</a:t>
            </a:r>
            <a:endParaRPr sz="1800"/>
          </a:p>
        </p:txBody>
      </p:sp>
      <p:sp>
        <p:nvSpPr>
          <p:cNvPr id="187" name="Google Shape;187;p20"/>
          <p:cNvSpPr txBox="1"/>
          <p:nvPr/>
        </p:nvSpPr>
        <p:spPr>
          <a:xfrm>
            <a:off x="6391313" y="2964713"/>
            <a:ext cx="49815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Calculer et consigner instantanément en base les scores des questionnaires soumis.</a:t>
            </a:r>
            <a:endParaRPr sz="1600"/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93382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819150" y="4181475"/>
            <a:ext cx="5230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Centralisation des Ressources</a:t>
            </a:r>
            <a:endParaRPr sz="1800"/>
          </a:p>
        </p:txBody>
      </p:sp>
      <p:sp>
        <p:nvSpPr>
          <p:cNvPr id="190" name="Google Shape;190;p20"/>
          <p:cNvSpPr txBox="1"/>
          <p:nvPr/>
        </p:nvSpPr>
        <p:spPr>
          <a:xfrm>
            <a:off x="819188" y="4484925"/>
            <a:ext cx="49815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Structurer les leçons de manière hiérarchique rattachée aux cours parents.</a:t>
            </a:r>
            <a:endParaRPr sz="1600"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91275" y="393382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391275" y="4181475"/>
            <a:ext cx="5230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Audits Métriques</a:t>
            </a:r>
            <a:endParaRPr sz="1800"/>
          </a:p>
        </p:txBody>
      </p:sp>
      <p:sp>
        <p:nvSpPr>
          <p:cNvPr id="193" name="Google Shape;193;p20"/>
          <p:cNvSpPr txBox="1"/>
          <p:nvPr/>
        </p:nvSpPr>
        <p:spPr>
          <a:xfrm>
            <a:off x="6391325" y="4484925"/>
            <a:ext cx="49815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Mettre à disposition de l'administrateur un monitoring global de l'écosystème.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676900" y="2609850"/>
            <a:ext cx="8382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8A2BE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2605563" y="3371850"/>
            <a:ext cx="698087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Analyse &amp; Cahier des charges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0" y="4210050"/>
            <a:ext cx="762000" cy="3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03 - MATRICE DES RÔLES &amp; BESOINS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22"/>
          <p:cNvGraphicFramePr/>
          <p:nvPr/>
        </p:nvGraphicFramePr>
        <p:xfrm>
          <a:off x="619125" y="2597943"/>
          <a:ext cx="10953725" cy="2176500"/>
        </p:xfrm>
        <a:graphic>
          <a:graphicData uri="http://schemas.openxmlformats.org/drawingml/2006/table">
            <a:tbl>
              <a:tblPr firstRow="1" bandRow="1">
                <a:noFill/>
                <a:tableStyleId>{FF7D7406-671E-46B1-BABF-2BD27D3407CC}</a:tableStyleId>
              </a:tblPr>
              <a:tblGrid>
                <a:gridCol w="27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0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Acteur Cible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0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Fonctionnalités Métiers Implémentées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Administrateur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Supervision via panel Django, gestion du cycle de vie des utilisateurs, modération des contenus obsolètes et monitoring analytique.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Enseignant (Professeur)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Opérations CRUD complètes sur les cours, édition textuelle des chapitres, gestion des fichiers joints (PDF/Images), et élaboration de quiz (Questions/Options).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Étudiant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Consultation du catalogue de formations, inscription autonome aux modules, lecture asynchrone des leçons, soumission de quiz et visualisation de notes.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0" name="Google Shape;210;p22"/>
          <p:cNvSpPr/>
          <p:nvPr/>
        </p:nvSpPr>
        <p:spPr>
          <a:xfrm>
            <a:off x="619125" y="3031331"/>
            <a:ext cx="2738437" cy="19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357562" y="3031331"/>
            <a:ext cx="8215312" cy="19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19125" y="3483768"/>
            <a:ext cx="2738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357562" y="3483768"/>
            <a:ext cx="82153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19125" y="4121943"/>
            <a:ext cx="2738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357562" y="4121943"/>
            <a:ext cx="82153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19125" y="4760118"/>
            <a:ext cx="2738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357562" y="4760118"/>
            <a:ext cx="821531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70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2325" y="1634800"/>
            <a:ext cx="9383960" cy="40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03 - SCHÉMA RELATIONNEL DES DONNÉES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769468" y="2021942"/>
            <a:ext cx="9040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1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Règles d'Association ORM</a:t>
            </a:r>
            <a:endParaRPr sz="2474"/>
          </a:p>
        </p:txBody>
      </p:sp>
      <p:sp>
        <p:nvSpPr>
          <p:cNvPr id="227" name="Google Shape;227;p23"/>
          <p:cNvSpPr txBox="1"/>
          <p:nvPr/>
        </p:nvSpPr>
        <p:spPr>
          <a:xfrm>
            <a:off x="981075" y="3145631"/>
            <a:ext cx="28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072450" y="2695232"/>
            <a:ext cx="83070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8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One-to-One (1:1) :</a:t>
            </a:r>
            <a:r>
              <a:rPr lang="en-US" sz="1988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Django User $\leftrightarrow$ ProfilUtilisateur pour étendre l'authentification native avec un attribut de type énuméré (Rôle).</a:t>
            </a:r>
            <a:endParaRPr sz="2474"/>
          </a:p>
        </p:txBody>
      </p:sp>
      <p:sp>
        <p:nvSpPr>
          <p:cNvPr id="229" name="Google Shape;229;p23"/>
          <p:cNvSpPr txBox="1"/>
          <p:nvPr/>
        </p:nvSpPr>
        <p:spPr>
          <a:xfrm>
            <a:off x="2072450" y="3553676"/>
            <a:ext cx="83070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8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One-to-Many (1:N) :</a:t>
            </a:r>
            <a:r>
              <a:rPr lang="en-US" sz="1988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Un Cours possède plusieurs instances de Lecon et Quiz liés par clés étrangères de cascade.</a:t>
            </a:r>
            <a:endParaRPr sz="2474"/>
          </a:p>
        </p:txBody>
      </p:sp>
      <p:sp>
        <p:nvSpPr>
          <p:cNvPr id="230" name="Google Shape;230;p23"/>
          <p:cNvSpPr txBox="1"/>
          <p:nvPr/>
        </p:nvSpPr>
        <p:spPr>
          <a:xfrm>
            <a:off x="2072450" y="4412121"/>
            <a:ext cx="83070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50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8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Many-to-Many (N:M) :</a:t>
            </a:r>
            <a:r>
              <a:rPr lang="en-US" sz="1988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Inscriptions sert de table de jonction pour mapper l'historique croisé Étudiants $\leftrightarrow$ Cours.</a:t>
            </a:r>
            <a:endParaRPr sz="2474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657850" y="2609850"/>
            <a:ext cx="105156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8A2BE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2360533" y="3371850"/>
            <a:ext cx="747093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Solution Proposée / Architecture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715000" y="4210050"/>
            <a:ext cx="762000" cy="3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2687" y="2840831"/>
            <a:ext cx="5310187" cy="16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04 - PATTERN MVT &amp; ROUTAGE DES FICHIERS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619125" y="2151650"/>
            <a:ext cx="531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L'architecture repose sur une isolation stricte via l'écosystème Django :</a:t>
            </a:r>
            <a:endParaRPr sz="1800"/>
          </a:p>
        </p:txBody>
      </p:sp>
      <p:sp>
        <p:nvSpPr>
          <p:cNvPr id="248" name="Google Shape;248;p25"/>
          <p:cNvSpPr txBox="1"/>
          <p:nvPr/>
        </p:nvSpPr>
        <p:spPr>
          <a:xfrm>
            <a:off x="619125" y="4755950"/>
            <a:ext cx="53103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Les fichiers physiques sont stockés sur le serveur selon le routage des variables MEDIA_ROOT et MEDIA_URL.</a:t>
            </a:r>
            <a:endParaRPr sz="1600"/>
          </a:p>
        </p:txBody>
      </p:sp>
      <p:sp>
        <p:nvSpPr>
          <p:cNvPr id="249" name="Google Shape;249;p25"/>
          <p:cNvSpPr txBox="1"/>
          <p:nvPr/>
        </p:nvSpPr>
        <p:spPr>
          <a:xfrm>
            <a:off x="762000" y="2840825"/>
            <a:ext cx="51672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Model :</a:t>
            </a:r>
            <a:r>
              <a:rPr lang="en-US" sz="145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Déclaration Python compilée par l'ORM en tables SQLite.</a:t>
            </a:r>
            <a:endParaRPr sz="1800"/>
          </a:p>
        </p:txBody>
      </p:sp>
      <p:sp>
        <p:nvSpPr>
          <p:cNvPr id="250" name="Google Shape;250;p25"/>
          <p:cNvSpPr txBox="1"/>
          <p:nvPr/>
        </p:nvSpPr>
        <p:spPr>
          <a:xfrm>
            <a:off x="762000" y="3522838"/>
            <a:ext cx="51672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View :</a:t>
            </a:r>
            <a:r>
              <a:rPr lang="en-US" sz="145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Contrôleurs interceptant les requêtes HTTP et exécutant les validations.</a:t>
            </a:r>
            <a:endParaRPr sz="1800"/>
          </a:p>
        </p:txBody>
      </p:sp>
      <p:sp>
        <p:nvSpPr>
          <p:cNvPr id="251" name="Google Shape;251;p25"/>
          <p:cNvSpPr txBox="1"/>
          <p:nvPr/>
        </p:nvSpPr>
        <p:spPr>
          <a:xfrm>
            <a:off x="762000" y="4139388"/>
            <a:ext cx="51672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Template :</a:t>
            </a:r>
            <a:r>
              <a:rPr lang="en-US" sz="145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Rendu dynamique via le moteur DTL (Django Template Language).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5285100" y="2620800"/>
            <a:ext cx="1621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8A2BE2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2760583" y="3371850"/>
            <a:ext cx="667083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Réalisation &amp; Démonstration</a:t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5715000" y="4210050"/>
            <a:ext cx="762000" cy="38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478881"/>
            <a:ext cx="5310187" cy="238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75" y="1677725"/>
            <a:ext cx="5310200" cy="36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05 - ALGORITHME D'ÉVALUATION DES QUESTIONNAIRES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7"/>
          <p:cNvSpPr txBox="1"/>
          <p:nvPr/>
        </p:nvSpPr>
        <p:spPr>
          <a:xfrm>
            <a:off x="6517149" y="1962706"/>
            <a:ext cx="511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Analyse de l'Exécution</a:t>
            </a:r>
            <a:endParaRPr sz="1600"/>
          </a:p>
        </p:txBody>
      </p:sp>
      <p:sp>
        <p:nvSpPr>
          <p:cNvPr id="270" name="Google Shape;270;p27"/>
          <p:cNvSpPr txBox="1"/>
          <p:nvPr/>
        </p:nvSpPr>
        <p:spPr>
          <a:xfrm>
            <a:off x="6481787" y="2410531"/>
            <a:ext cx="4872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 traitement backend s'exécute en temps linéaire $O(N)$ où $N$ est le nombre de questions du quiz :</a:t>
            </a:r>
            <a:endParaRPr sz="1700"/>
          </a:p>
        </p:txBody>
      </p:sp>
      <p:sp>
        <p:nvSpPr>
          <p:cNvPr id="271" name="Google Shape;271;p27"/>
          <p:cNvSpPr txBox="1"/>
          <p:nvPr/>
        </p:nvSpPr>
        <p:spPr>
          <a:xfrm>
            <a:off x="6796149" y="2986556"/>
            <a:ext cx="45576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Extraction sécurisée des IDs via le dictionnaire request.POST.</a:t>
            </a:r>
            <a:endParaRPr sz="1800"/>
          </a:p>
        </p:txBody>
      </p:sp>
      <p:sp>
        <p:nvSpPr>
          <p:cNvPr id="272" name="Google Shape;272;p27"/>
          <p:cNvSpPr txBox="1"/>
          <p:nvPr/>
        </p:nvSpPr>
        <p:spPr>
          <a:xfrm>
            <a:off x="6796149" y="3614956"/>
            <a:ext cx="45576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Vérification de l'état du drapeau booléen is_correct directement en base de données.</a:t>
            </a:r>
            <a:endParaRPr sz="1800"/>
          </a:p>
        </p:txBody>
      </p:sp>
      <p:sp>
        <p:nvSpPr>
          <p:cNvPr id="273" name="Google Shape;273;p27"/>
          <p:cNvSpPr txBox="1"/>
          <p:nvPr/>
        </p:nvSpPr>
        <p:spPr>
          <a:xfrm>
            <a:off x="6796087" y="4245768"/>
            <a:ext cx="45576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Persistance atomique de l'instance ResultatQuiz pour alimenter les tableaux de bord.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352675"/>
            <a:ext cx="5310187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352675"/>
            <a:ext cx="5310187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 txBox="1"/>
          <p:nvPr/>
        </p:nvSpPr>
        <p:spPr>
          <a:xfrm>
            <a:off x="762000" y="428625"/>
            <a:ext cx="113514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05 - INTERFACES GRAPHIQUES &amp; DESIGN VERRE</a:t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619125" y="428625"/>
            <a:ext cx="38100" cy="40005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21818" y="31718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989058" y="3552825"/>
            <a:ext cx="257032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Espace Enseignant / Analytics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819150" y="3829050"/>
            <a:ext cx="49101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[Capture d'écran : Vue de création de cours et monitoring d'inscription sous Bootstrap 5 &amp; CSS Glassmorphism]</a:t>
            </a:r>
            <a:endParaRPr/>
          </a:p>
        </p:txBody>
      </p:sp>
      <p:pic>
        <p:nvPicPr>
          <p:cNvPr id="286" name="Google Shape;286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27281" y="31718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7517606" y="3552825"/>
            <a:ext cx="28003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Espace Étudiant / Apprentissage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6462712" y="3829050"/>
            <a:ext cx="49101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[Capture d'écran : Consultation du catalogue avec barre de progression interactive calculée dynamiquement]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13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9068" y="4062858"/>
            <a:ext cx="4233862" cy="4619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2225516" y="2752278"/>
            <a:ext cx="7740967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MERCI DE VOTRE </a:t>
            </a:r>
            <a:r>
              <a:rPr lang="en-US" sz="4200" b="1" i="0" u="none" strike="noStrike" cap="none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ATTENTION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3281362" y="3415158"/>
            <a:ext cx="56292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 séance est ouverte aux questions et discussions techniques.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4274393" y="4207283"/>
            <a:ext cx="36432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00FFFF"/>
                </a:solidFill>
              </a:rPr>
              <a:t>link to the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Macintosh PowerPoint</Application>
  <PresentationFormat>Widescreen</PresentationFormat>
  <Paragraphs>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Urbanist Medium</vt:lpstr>
      <vt:lpstr>Urbanist</vt:lpstr>
      <vt:lpstr>Poppins</vt:lpstr>
      <vt:lpstr>Poppins SemiBold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Nizar EL IDRYSY</cp:lastModifiedBy>
  <cp:revision>1</cp:revision>
  <dcterms:modified xsi:type="dcterms:W3CDTF">2026-06-11T00:47:58Z</dcterms:modified>
</cp:coreProperties>
</file>